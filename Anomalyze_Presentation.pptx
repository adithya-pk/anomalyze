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9990"/>
    <a:srgbClr val="3CA9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8C37D-9BAC-439A-A29D-7BA44BA2CAAF}" v="2" dt="2026-04-10T04:20:21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87" y="2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P K" userId="fc9fadd65f202961" providerId="LiveId" clId="{85E04892-F4D2-42BB-816D-9FE837E83EF2}"/>
    <pc:docChg chg="undo custSel addSld delSld modSld">
      <pc:chgData name="Adithya P K" userId="fc9fadd65f202961" providerId="LiveId" clId="{85E04892-F4D2-42BB-816D-9FE837E83EF2}" dt="2026-04-10T04:25:50.296" v="81" actId="207"/>
      <pc:docMkLst>
        <pc:docMk/>
      </pc:docMkLst>
      <pc:sldChg chg="modSp del mod">
        <pc:chgData name="Adithya P K" userId="fc9fadd65f202961" providerId="LiveId" clId="{85E04892-F4D2-42BB-816D-9FE837E83EF2}" dt="2026-04-10T04:04:09.680" v="2" actId="47"/>
        <pc:sldMkLst>
          <pc:docMk/>
          <pc:sldMk cId="0" sldId="256"/>
        </pc:sldMkLst>
        <pc:spChg chg="mod">
          <ac:chgData name="Adithya P K" userId="fc9fadd65f202961" providerId="LiveId" clId="{85E04892-F4D2-42BB-816D-9FE837E83EF2}" dt="2026-04-10T04:03:36.902" v="1" actId="1076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Adithya P K" userId="fc9fadd65f202961" providerId="LiveId" clId="{85E04892-F4D2-42BB-816D-9FE837E83EF2}" dt="2026-04-10T04:05:04.331" v="36" actId="1035"/>
        <pc:sldMkLst>
          <pc:docMk/>
          <pc:sldMk cId="0" sldId="257"/>
        </pc:sldMkLst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04:22.254" v="4" actId="478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Adithya P K" userId="fc9fadd65f202961" providerId="LiveId" clId="{85E04892-F4D2-42BB-816D-9FE837E83EF2}" dt="2026-04-10T04:04:23.007" v="5"/>
          <ac:spMkLst>
            <pc:docMk/>
            <pc:sldMk cId="0" sldId="257"/>
            <ac:spMk id="14" creationId="{0FF5AF1E-0956-133F-90F5-FE654E9C82E9}"/>
          </ac:spMkLst>
        </pc:spChg>
        <pc:spChg chg="add mod">
          <ac:chgData name="Adithya P K" userId="fc9fadd65f202961" providerId="LiveId" clId="{85E04892-F4D2-42BB-816D-9FE837E83EF2}" dt="2026-04-10T04:04:23.007" v="5"/>
          <ac:spMkLst>
            <pc:docMk/>
            <pc:sldMk cId="0" sldId="257"/>
            <ac:spMk id="15" creationId="{EB8C1145-5BA1-32E0-7999-2A1C0C186191}"/>
          </ac:spMkLst>
        </pc:spChg>
        <pc:spChg chg="add mod">
          <ac:chgData name="Adithya P K" userId="fc9fadd65f202961" providerId="LiveId" clId="{85E04892-F4D2-42BB-816D-9FE837E83EF2}" dt="2026-04-10T04:05:04.331" v="36" actId="1035"/>
          <ac:spMkLst>
            <pc:docMk/>
            <pc:sldMk cId="0" sldId="257"/>
            <ac:spMk id="16" creationId="{4B9F32A1-F0AD-35D1-12B3-EE635947820E}"/>
          </ac:spMkLst>
        </pc:spChg>
        <pc:spChg chg="add mod">
          <ac:chgData name="Adithya P K" userId="fc9fadd65f202961" providerId="LiveId" clId="{85E04892-F4D2-42BB-816D-9FE837E83EF2}" dt="2026-04-10T04:04:39.609" v="7" actId="207"/>
          <ac:spMkLst>
            <pc:docMk/>
            <pc:sldMk cId="0" sldId="257"/>
            <ac:spMk id="17" creationId="{43DD9276-AA76-18A3-0D16-1B982BB59D8C}"/>
          </ac:spMkLst>
        </pc:spChg>
        <pc:spChg chg="add mod">
          <ac:chgData name="Adithya P K" userId="fc9fadd65f202961" providerId="LiveId" clId="{85E04892-F4D2-42BB-816D-9FE837E83EF2}" dt="2026-04-10T04:04:23.007" v="5"/>
          <ac:spMkLst>
            <pc:docMk/>
            <pc:sldMk cId="0" sldId="257"/>
            <ac:spMk id="18" creationId="{12F1F84F-72A5-10A7-4549-AB53CBD8117E}"/>
          </ac:spMkLst>
        </pc:spChg>
        <pc:spChg chg="add mod">
          <ac:chgData name="Adithya P K" userId="fc9fadd65f202961" providerId="LiveId" clId="{85E04892-F4D2-42BB-816D-9FE837E83EF2}" dt="2026-04-10T04:04:23.007" v="5"/>
          <ac:spMkLst>
            <pc:docMk/>
            <pc:sldMk cId="0" sldId="257"/>
            <ac:spMk id="19" creationId="{DD2AE198-32E7-9ADD-3265-9ADA20CA045E}"/>
          </ac:spMkLst>
        </pc:spChg>
        <pc:spChg chg="add mod">
          <ac:chgData name="Adithya P K" userId="fc9fadd65f202961" providerId="LiveId" clId="{85E04892-F4D2-42BB-816D-9FE837E83EF2}" dt="2026-04-10T04:04:23.007" v="5"/>
          <ac:spMkLst>
            <pc:docMk/>
            <pc:sldMk cId="0" sldId="257"/>
            <ac:spMk id="20" creationId="{6BC7557B-E016-6AA8-F80C-8E161C011D03}"/>
          </ac:spMkLst>
        </pc:spChg>
        <pc:spChg chg="add mod">
          <ac:chgData name="Adithya P K" userId="fc9fadd65f202961" providerId="LiveId" clId="{85E04892-F4D2-42BB-816D-9FE837E83EF2}" dt="2026-04-10T04:04:49.050" v="10" actId="20577"/>
          <ac:spMkLst>
            <pc:docMk/>
            <pc:sldMk cId="0" sldId="257"/>
            <ac:spMk id="21" creationId="{840EB141-6952-4C34-D8BA-CBFF5A93199E}"/>
          </ac:spMkLst>
        </pc:spChg>
        <pc:spChg chg="add mod">
          <ac:chgData name="Adithya P K" userId="fc9fadd65f202961" providerId="LiveId" clId="{85E04892-F4D2-42BB-816D-9FE837E83EF2}" dt="2026-04-10T04:04:23.007" v="5"/>
          <ac:spMkLst>
            <pc:docMk/>
            <pc:sldMk cId="0" sldId="257"/>
            <ac:spMk id="22" creationId="{2FB11D38-1327-1FA3-B9FF-77256A2E46B2}"/>
          </ac:spMkLst>
        </pc:spChg>
      </pc:sldChg>
      <pc:sldChg chg="modSp mod">
        <pc:chgData name="Adithya P K" userId="fc9fadd65f202961" providerId="LiveId" clId="{85E04892-F4D2-42BB-816D-9FE837E83EF2}" dt="2026-04-10T04:25:13.500" v="79" actId="207"/>
        <pc:sldMkLst>
          <pc:docMk/>
          <pc:sldMk cId="0" sldId="266"/>
        </pc:sldMkLst>
        <pc:spChg chg="mod">
          <ac:chgData name="Adithya P K" userId="fc9fadd65f202961" providerId="LiveId" clId="{85E04892-F4D2-42BB-816D-9FE837E83EF2}" dt="2026-04-10T04:25:13.500" v="79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Adithya P K" userId="fc9fadd65f202961" providerId="LiveId" clId="{85E04892-F4D2-42BB-816D-9FE837E83EF2}" dt="2026-04-10T04:24:51.106" v="75" actId="207"/>
          <ac:spMkLst>
            <pc:docMk/>
            <pc:sldMk cId="0" sldId="266"/>
            <ac:spMk id="6" creationId="{00000000-0000-0000-0000-000000000000}"/>
          </ac:spMkLst>
        </pc:spChg>
      </pc:sldChg>
      <pc:sldChg chg="delSp del mod">
        <pc:chgData name="Adithya P K" userId="fc9fadd65f202961" providerId="LiveId" clId="{85E04892-F4D2-42BB-816D-9FE837E83EF2}" dt="2026-04-10T04:20:09.867" v="38" actId="47"/>
        <pc:sldMkLst>
          <pc:docMk/>
          <pc:sldMk cId="0" sldId="275"/>
        </pc:sldMkLst>
        <pc:spChg chg="del">
          <ac:chgData name="Adithya P K" userId="fc9fadd65f202961" providerId="LiveId" clId="{85E04892-F4D2-42BB-816D-9FE837E83EF2}" dt="2026-04-10T04:20:03.887" v="37" actId="21"/>
          <ac:spMkLst>
            <pc:docMk/>
            <pc:sldMk cId="0" sldId="275"/>
            <ac:spMk id="2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20:03.887" v="37" actId="21"/>
          <ac:spMkLst>
            <pc:docMk/>
            <pc:sldMk cId="0" sldId="275"/>
            <ac:spMk id="3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20:03.887" v="37" actId="21"/>
          <ac:spMkLst>
            <pc:docMk/>
            <pc:sldMk cId="0" sldId="275"/>
            <ac:spMk id="4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20:03.887" v="37" actId="21"/>
          <ac:spMkLst>
            <pc:docMk/>
            <pc:sldMk cId="0" sldId="275"/>
            <ac:spMk id="5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20:03.887" v="37" actId="21"/>
          <ac:spMkLst>
            <pc:docMk/>
            <pc:sldMk cId="0" sldId="275"/>
            <ac:spMk id="6" creationId="{00000000-0000-0000-0000-000000000000}"/>
          </ac:spMkLst>
        </pc:spChg>
        <pc:spChg chg="del">
          <ac:chgData name="Adithya P K" userId="fc9fadd65f202961" providerId="LiveId" clId="{85E04892-F4D2-42BB-816D-9FE837E83EF2}" dt="2026-04-10T04:20:03.887" v="37" actId="21"/>
          <ac:spMkLst>
            <pc:docMk/>
            <pc:sldMk cId="0" sldId="275"/>
            <ac:spMk id="7" creationId="{00000000-0000-0000-0000-000000000000}"/>
          </ac:spMkLst>
        </pc:spChg>
      </pc:sldChg>
      <pc:sldChg chg="add">
        <pc:chgData name="Adithya P K" userId="fc9fadd65f202961" providerId="LiveId" clId="{85E04892-F4D2-42BB-816D-9FE837E83EF2}" dt="2026-04-10T04:04:15.513" v="3" actId="2890"/>
        <pc:sldMkLst>
          <pc:docMk/>
          <pc:sldMk cId="591951123" sldId="276"/>
        </pc:sldMkLst>
      </pc:sldChg>
      <pc:sldChg chg="addSp delSp modSp add mod">
        <pc:chgData name="Adithya P K" userId="fc9fadd65f202961" providerId="LiveId" clId="{85E04892-F4D2-42BB-816D-9FE837E83EF2}" dt="2026-04-10T04:25:50.296" v="81" actId="207"/>
        <pc:sldMkLst>
          <pc:docMk/>
          <pc:sldMk cId="2143798708" sldId="277"/>
        </pc:sldMkLst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2" creationId="{FBF713D9-94DA-B166-66F5-0B23400BDB8D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3" creationId="{D1F6549B-3A38-74A2-ECFE-83AB8689531E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4" creationId="{291569B7-35EB-0E3C-59AC-D6E7042834D2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5" creationId="{03E9F0B0-844A-8352-FF0F-056341E5EC43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6" creationId="{0EA3A619-7B32-7DF8-5B96-2594FDC2B77B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7" creationId="{45F4522D-FB5F-CF89-C4AF-5258B80584C7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8" creationId="{F712468C-D7C5-5F29-A799-2928225B8CCE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10" creationId="{CF46EFD7-DB57-E661-269C-9392E3772DEF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11" creationId="{53304DFF-9336-E104-2DB7-8DBFC6B92E91}"/>
          </ac:spMkLst>
        </pc:spChg>
        <pc:spChg chg="del">
          <ac:chgData name="Adithya P K" userId="fc9fadd65f202961" providerId="LiveId" clId="{85E04892-F4D2-42BB-816D-9FE837E83EF2}" dt="2026-04-10T04:20:19.091" v="40" actId="478"/>
          <ac:spMkLst>
            <pc:docMk/>
            <pc:sldMk cId="2143798708" sldId="277"/>
            <ac:spMk id="12" creationId="{57195751-58A8-6056-0D87-E8D419277580}"/>
          </ac:spMkLst>
        </pc:spChg>
        <pc:spChg chg="add mod">
          <ac:chgData name="Adithya P K" userId="fc9fadd65f202961" providerId="LiveId" clId="{85E04892-F4D2-42BB-816D-9FE837E83EF2}" dt="2026-04-10T04:20:21.186" v="41"/>
          <ac:spMkLst>
            <pc:docMk/>
            <pc:sldMk cId="2143798708" sldId="277"/>
            <ac:spMk id="13" creationId="{00000000-0000-0000-0000-000000000000}"/>
          </ac:spMkLst>
        </pc:spChg>
        <pc:spChg chg="add mod">
          <ac:chgData name="Adithya P K" userId="fc9fadd65f202961" providerId="LiveId" clId="{85E04892-F4D2-42BB-816D-9FE837E83EF2}" dt="2026-04-10T04:20:21.186" v="41"/>
          <ac:spMkLst>
            <pc:docMk/>
            <pc:sldMk cId="2143798708" sldId="277"/>
            <ac:spMk id="14" creationId="{00000000-0000-0000-0000-000000000000}"/>
          </ac:spMkLst>
        </pc:spChg>
        <pc:spChg chg="add mod">
          <ac:chgData name="Adithya P K" userId="fc9fadd65f202961" providerId="LiveId" clId="{85E04892-F4D2-42BB-816D-9FE837E83EF2}" dt="2026-04-10T04:20:46.809" v="73" actId="1035"/>
          <ac:spMkLst>
            <pc:docMk/>
            <pc:sldMk cId="2143798708" sldId="277"/>
            <ac:spMk id="15" creationId="{00000000-0000-0000-0000-000000000000}"/>
          </ac:spMkLst>
        </pc:spChg>
        <pc:spChg chg="add del mod">
          <ac:chgData name="Adithya P K" userId="fc9fadd65f202961" providerId="LiveId" clId="{85E04892-F4D2-42BB-816D-9FE837E83EF2}" dt="2026-04-10T04:20:30.267" v="43" actId="478"/>
          <ac:spMkLst>
            <pc:docMk/>
            <pc:sldMk cId="2143798708" sldId="277"/>
            <ac:spMk id="16" creationId="{00000000-0000-0000-0000-000000000000}"/>
          </ac:spMkLst>
        </pc:spChg>
        <pc:spChg chg="add mod">
          <ac:chgData name="Adithya P K" userId="fc9fadd65f202961" providerId="LiveId" clId="{85E04892-F4D2-42BB-816D-9FE837E83EF2}" dt="2026-04-10T04:25:50.296" v="81" actId="207"/>
          <ac:spMkLst>
            <pc:docMk/>
            <pc:sldMk cId="2143798708" sldId="277"/>
            <ac:spMk id="17" creationId="{00000000-0000-0000-0000-000000000000}"/>
          </ac:spMkLst>
        </pc:spChg>
        <pc:spChg chg="add mod">
          <ac:chgData name="Adithya P K" userId="fc9fadd65f202961" providerId="LiveId" clId="{85E04892-F4D2-42BB-816D-9FE837E83EF2}" dt="2026-04-10T04:20:21.186" v="41"/>
          <ac:spMkLst>
            <pc:docMk/>
            <pc:sldMk cId="2143798708" sldId="277"/>
            <ac:spMk id="1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Top Feature Importances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time</c:v>
                </c:pt>
                <c:pt idx="1">
                  <c:v>amount</c:v>
                </c:pt>
                <c:pt idx="2">
                  <c:v>avg_amt_24h</c:v>
                </c:pt>
                <c:pt idx="3">
                  <c:v>is_intl</c:v>
                </c:pt>
                <c:pt idx="4">
                  <c:v>loc_intl</c:v>
                </c:pt>
                <c:pt idx="5">
                  <c:v>count_24h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0.2059</c:v>
                </c:pt>
                <c:pt idx="1">
                  <c:v>0.20300000000000001</c:v>
                </c:pt>
                <c:pt idx="2">
                  <c:v>0.1227</c:v>
                </c:pt>
                <c:pt idx="3">
                  <c:v>0.11070000000000001</c:v>
                </c:pt>
                <c:pt idx="4">
                  <c:v>9.8199999999999996E-2</c:v>
                </c:pt>
                <c:pt idx="5">
                  <c:v>7.0400000000000004E-2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DB-4081-8549-8F556C0FC1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25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0253E-018D-CEC1-5A40-01F36FBA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C3A12-8440-029E-945F-E9284167F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A280E-C56E-8650-A38E-1138AE3D1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A0AC-0E2F-677B-F2E4-E8E5E6177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7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EBAA-0680-B82C-7A52-4A34CD84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ED967-DD0C-567C-2E06-0B41DDBFB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71835-9303-5FFC-474F-747B3992C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0DA97-A3A8-4E7E-33E0-3E5067071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7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0FF5AF1E-0956-133F-90F5-FE654E9C82E9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EB8C1145-5BA1-32E0-7999-2A1C0C186191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7567"/>
          </a:solidFill>
          <a:ln w="12700">
            <a:solidFill>
              <a:srgbClr val="0A7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B9F32A1-F0AD-35D1-12B3-EE635947820E}"/>
              </a:ext>
            </a:extLst>
          </p:cNvPr>
          <p:cNvSpPr/>
          <p:nvPr/>
        </p:nvSpPr>
        <p:spPr>
          <a:xfrm>
            <a:off x="548640" y="944881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Anomalyze</a:t>
            </a:r>
            <a:endParaRPr lang="en-US" sz="5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3DD9276-AA76-18A3-0D16-1B982BB59D8C}"/>
              </a:ext>
            </a:extLst>
          </p:cNvPr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using Anomaly Detection ML</a:t>
            </a:r>
            <a:endParaRPr lang="en-US" sz="20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12F1F84F-72A5-10A7-4549-AB53CBD8117E}"/>
              </a:ext>
            </a:extLst>
          </p:cNvPr>
          <p:cNvSpPr/>
          <p:nvPr/>
        </p:nvSpPr>
        <p:spPr>
          <a:xfrm>
            <a:off x="548640" y="2468880"/>
            <a:ext cx="2926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D2AE198-32E7-9ADD-3265-9ADA20CA045E}"/>
              </a:ext>
            </a:extLst>
          </p:cNvPr>
          <p:cNvSpPr/>
          <p:nvPr/>
        </p:nvSpPr>
        <p:spPr>
          <a:xfrm>
            <a:off x="54864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Additional ML Applications</a:t>
            </a:r>
            <a:endParaRPr lang="en-US" sz="11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BC7557B-E016-6AA8-F80C-8E161C011D03}"/>
              </a:ext>
            </a:extLst>
          </p:cNvPr>
          <p:cNvSpPr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40EB141-6952-4C34-D8BA-CBFF5A93199E}"/>
              </a:ext>
            </a:extLst>
          </p:cNvPr>
          <p:cNvSpPr/>
          <p:nvPr/>
        </p:nvSpPr>
        <p:spPr>
          <a:xfrm>
            <a:off x="548640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Adithya P K  |  Deepak Ram V</a:t>
            </a:r>
            <a:endParaRPr lang="en-US" sz="14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FB11D38-1327-1FA3-B9FF-77256A2E46B2}"/>
              </a:ext>
            </a:extLst>
          </p:cNvPr>
          <p:cNvSpPr/>
          <p:nvPr/>
        </p:nvSpPr>
        <p:spPr>
          <a:xfrm>
            <a:off x="54864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Easwari Engineering College  |  Neural Networks &amp; Deep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AE58E-9FEF-A0AB-1CD5-A57169CC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20694A-EE21-DD28-8472-D0A82D4AA28E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BF4A1D-359D-297F-2AB5-11D0A133E605}"/>
              </a:ext>
            </a:extLst>
          </p:cNvPr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B2124C-973C-1495-B93E-74AD6350AAB8}"/>
              </a:ext>
            </a:extLst>
          </p:cNvPr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08D62D-90AB-1E80-7453-B23EFC86526E}"/>
              </a:ext>
            </a:extLst>
          </p:cNvPr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D0AAF9-21D5-B79E-0B9D-A3C538964227}"/>
              </a:ext>
            </a:extLst>
          </p:cNvPr>
          <p:cNvSpPr/>
          <p:nvPr/>
        </p:nvSpPr>
        <p:spPr>
          <a:xfrm>
            <a:off x="3200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Credit Card Fraud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2EC22A-D173-5B1A-4916-DEE399809C95}"/>
              </a:ext>
            </a:extLst>
          </p:cNvPr>
          <p:cNvSpPr/>
          <p:nvPr/>
        </p:nvSpPr>
        <p:spPr>
          <a:xfrm>
            <a:off x="32004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causes billions of dollars in losses globally every year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are rare (&lt;5%) — making detection in imbalanced data extremely difficult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systems lack adaptability to evolving fraud patterns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ML approaches often use opaque features (e.g. V1–V28), reducing explainability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 system that combines ML accuracy with transparent, rule-based reasoning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C8DC9D8-653B-B91E-5D23-B52DE91B5D85}"/>
              </a:ext>
            </a:extLst>
          </p:cNvPr>
          <p:cNvSpPr/>
          <p:nvPr/>
        </p:nvSpPr>
        <p:spPr>
          <a:xfrm>
            <a:off x="320040" y="4343400"/>
            <a:ext cx="2651760" cy="50292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683697D-0221-07F7-6369-217F30444861}"/>
              </a:ext>
            </a:extLst>
          </p:cNvPr>
          <p:cNvSpPr/>
          <p:nvPr/>
        </p:nvSpPr>
        <p:spPr>
          <a:xfrm>
            <a:off x="429768" y="43616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$32B+  Annual fraud losses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0E1537F-6D9B-4C16-9252-ED33128B28F7}"/>
              </a:ext>
            </a:extLst>
          </p:cNvPr>
          <p:cNvSpPr/>
          <p:nvPr/>
        </p:nvSpPr>
        <p:spPr>
          <a:xfrm>
            <a:off x="3200400" y="4343400"/>
            <a:ext cx="2651760" cy="50292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C59521-3EB1-FBF2-F68A-601F51521B5F}"/>
              </a:ext>
            </a:extLst>
          </p:cNvPr>
          <p:cNvSpPr/>
          <p:nvPr/>
        </p:nvSpPr>
        <p:spPr>
          <a:xfrm>
            <a:off x="3310128" y="43616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 Typical fraud rate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17068AB-854D-02A2-CBE5-BF72D6C4590C}"/>
              </a:ext>
            </a:extLst>
          </p:cNvPr>
          <p:cNvSpPr/>
          <p:nvPr/>
        </p:nvSpPr>
        <p:spPr>
          <a:xfrm>
            <a:off x="6080760" y="4343400"/>
            <a:ext cx="2651760" cy="50292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D568EE-C464-B01B-B365-FF3B32908C15}"/>
              </a:ext>
            </a:extLst>
          </p:cNvPr>
          <p:cNvSpPr/>
          <p:nvPr/>
        </p:nvSpPr>
        <p:spPr>
          <a:xfrm>
            <a:off x="6190488" y="43616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Explainability in black-box models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195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Identified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412480" cy="62179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978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Pozzolo et al. (2015)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Probability with Undersampling — IEEE SSCI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41248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Chawla et al. (2002)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SMOTE: Synthetic Minority Over-sampling Technique — JAIR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8412480" cy="62179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4780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— Machine Learning Journal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63824"/>
            <a:ext cx="841248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227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Bhattacharyya et al. (2011)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for Credit Card Fraud — Decision Support Systems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8412480" cy="62179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Randhawa et al. (2018)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245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using ML and Metaheuristics — IEEE Access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14630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3533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(Kaggle) use PCA-compressed features V1–V28 that are uninterpretable for real-world deployment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023360" cy="14630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1888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Hybrid Reasoning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3533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ML models miss the transparency that business analysts and fraud investigators need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023360" cy="14630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208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Minority 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2999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optimise accuracy, achieving ~97% by ignoring the rare fraud class entirely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560320"/>
            <a:ext cx="4023360" cy="14630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17720" y="256032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18888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Logic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999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don't combine multiple simultaneous risk signals to escalate scoring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Identified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— Generated In-House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synthetically generated using a custom script (train_model.py) — not sourced from Kaggle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public fraud-detection benchmarks but uses fully interpretable real-world fields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are explicitly programmed to reflect genuine fraud behaviour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 ensures fair evaluation on the minority fraud class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520440"/>
            <a:ext cx="1965960" cy="10058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3584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40599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520440"/>
            <a:ext cx="1965960" cy="10058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3584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40599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3520440"/>
            <a:ext cx="1965960" cy="10058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3584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40599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520440"/>
            <a:ext cx="1965960" cy="100584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0" y="3584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40599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— current transaction value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hour of day (0–23.99)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transaction_count_24h — recent activity count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avg_amount_24h — behavioural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207008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merchant_type (grocery, electronics, travel…)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transaction_type (online / POS)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 (mobile / desktop)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location_type (same_city / different_city / international)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868680"/>
            <a:ext cx="0" cy="17373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3931920" cy="6400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 is_international  (0 or 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63240"/>
            <a:ext cx="4206240" cy="6400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3163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 fraud  (0 = Normal, 1 = Fraud)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Fraud Triggers in Generation Logic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133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10 000  |  is_international = 1  |  online + international  |  time 22:00–05:00  |  count_24h &gt; 10  |  amount &gt;&gt; avg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" y="914400"/>
            <a:ext cx="7909560" cy="56692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19786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with stratification preserves the 4.32% fraud ratio in both 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5528" y="1664208"/>
            <a:ext cx="7909560" cy="566928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9476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numerical features (amount, time, counts) to zero mean and unit variance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41401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5528" y="2414016"/>
            <a:ext cx="7909560" cy="56692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012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697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merchant_type, transaction_type, device_type, and location_type to binary columns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63824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16382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5528" y="3163824"/>
            <a:ext cx="7909560" cy="566928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3209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Pass-through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4472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is_international remains as numeric 0/1 — no transformation needed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913632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39136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5528" y="3913632"/>
            <a:ext cx="7909560" cy="56692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6012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Concatenation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19709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numerics + encoded categoricals + binary feature are concatenated into final matrix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— robust to overfitting and highly interpretable feature importances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handles class imbalance without synthetic oversampling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outputs fraud probabilities — required for hybrid scoring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makes it suitable for real-time transaction screening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 prevents overfitting to noise while capturing complex fraud patterns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261872"/>
            <a:ext cx="2834640" cy="256032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167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5511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 balanced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935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 42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2245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(low recall)   ·   SVM (high compute cost)   ·   Neural Network (less explainable)   ·   Isolation Forest (unsupervised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Decision Architecture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600200" cy="82296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" y="1444752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182880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65960" y="1417320"/>
            <a:ext cx="1600200" cy="82296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20824" y="1444752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Encode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0" y="1417320"/>
            <a:ext cx="1600200" cy="82296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12464" y="1444752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82880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49240" y="1417320"/>
            <a:ext cx="1600200" cy="82296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04104" y="1444752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40880" y="1417320"/>
            <a:ext cx="1600200" cy="822960"/>
          </a:xfrm>
          <a:prstGeom prst="rect">
            <a:avLst/>
          </a:prstGeom>
          <a:solidFill>
            <a:srgbClr val="0D9488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95744" y="1444752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Escalation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8412480" cy="731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Formula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base_score = (ML_probability × 0.55) + (rule_score / 100 × 0.45)     final_score = base_score + escalation_bonus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40156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→ Low Risk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30–70 → Medium Risk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70–100 → High Risk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50 → Predicted Fraud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429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bonus triggered when: high amount + international  |  online + international location  |  very high frequency + amount &gt;&gt; avg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412480" cy="658368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005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4.32% fraud class is proportionally represented in both train and test 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412480" cy="65836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1755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uses class_weight='balanced' — equivalent to oversampling fraud during training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8412480" cy="658368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Epochs/Batches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5054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train all trees in a single fit() pass — no iterative epoch logic required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63824"/>
            <a:ext cx="8412480" cy="65836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236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Artifacts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3255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model.pkl, scaler.pkl, encoder.pkl, feature_columns.pkl — all saved for the Streamlit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8412480" cy="658368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40050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set throughout — results are deterministic across all runs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Chosen and Their Rationale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606040" cy="53035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34416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reduce variance; 150 balances performance and compute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2606040" cy="53035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20116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tree depth to prevent memorising noise in the training 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2606040" cy="53035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67919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adjusts weights inversely proportional to class frequencies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82696"/>
            <a:ext cx="2606040" cy="53035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3741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34670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reproducibility — identical output on every run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50208"/>
            <a:ext cx="2606040" cy="53035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 = 'ignore'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4014216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silently ignores unseen categories at inference time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Rule Engine = Hybrid Fraud Scorer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150 decision trees trained on bootstrapped samples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votes; majority vote determines fraud probability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expose top predictive signals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ML probability used in hybrid formula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664208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10,000 → +20 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is_international = 1 → +25 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international → +15 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(22:00–05:00) → +10 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transaction_count_24h &gt; 10 → +10 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&gt;&gt; avg_amount_24h → +20 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1325880"/>
            <a:ext cx="0" cy="24688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3840480"/>
            <a:ext cx="8412480" cy="6400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 Anomaly Score (0–100)  ·  Risk Level (Low / Medium / High)  ·  Fraud Prediction  ·  Plain-language Explanation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023360" cy="71323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scripts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023360" cy="71323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RandomForestClassifier, StandardScaler, OneHotEncoder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023360" cy="71323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 — single-transaction and batch modes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194560"/>
            <a:ext cx="4023360" cy="71323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542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generation, manipulation, and feature engineering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4023360" cy="713232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(.pkl)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model artefacts for real-time inference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063240"/>
            <a:ext cx="4023360" cy="71323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410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feature importance and risk distribution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389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Generate Data → Train &amp; Save → Launch Streamlit App → Single / Batch Inference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65960" cy="91440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65960" cy="91440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0" y="1005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1490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91440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31.79%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09160" y="1490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1965960" cy="91440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0" y="1005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1490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31720"/>
          <a:ext cx="502920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3702 (TN)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(FP)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(FN)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(TP)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Chart 0"/>
          <p:cNvGraphicFramePr/>
          <p:nvPr/>
        </p:nvGraphicFramePr>
        <p:xfrm>
          <a:off x="5394960" y="1993392"/>
          <a:ext cx="33832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7"/>
          <p:cNvSpPr/>
          <p:nvPr/>
        </p:nvSpPr>
        <p:spPr>
          <a:xfrm>
            <a:off x="32004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High accuracy on normal class (96.7%). Fraud recall is moderate — expected with class imbalance. Hybrid scoring raises practical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vs Baselines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86968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Always-Normal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Score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(escalation)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(rule reasons)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407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A naive baseline achieves 95.68% accuracy by predicting 'normal' for everything — yet catches zero fraud. Our hybrid approach trades a small accuracy drop for meaningful fraud detection and full explainability.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Streamlit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is deployed as a fully interactive Streamlit web app with two operating modes: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023360" cy="3383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Transaction Mode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 input for all 9 fields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anomaly score + risk level badge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Normal prediction with confidence 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breakdown — which rules fired and why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mini-chart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gauge chart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206240" cy="3383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Mode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 with valid columns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Row-wise fraud scoring for all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Risk-coloured results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reason column per transaction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 — total fraud flagged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annotated CSV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07408" y="1280160"/>
            <a:ext cx="0" cy="33832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4709160"/>
            <a:ext cx="8412480" cy="228600"/>
          </a:xfrm>
          <a:prstGeom prst="rect">
            <a:avLst/>
          </a:prstGeom>
          <a:solidFill>
            <a:srgbClr val="E6F4F3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7274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streamlit run app.py  — accessible at 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Anomalyze Achieves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fully interpretable fraud detection system using only real, meaningful transaction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Random Forest ML model with a transparent rule engine for a robust hybrid score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explainability and accuracy are not mutually exclusive in fraud detection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production-style Streamlit dashboard for both single and large-scale batch analysis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ROC-AUC of 0.7507 — meaningfully above the 0.5 random baseline — on imbalanced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977640"/>
            <a:ext cx="1965960" cy="8686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93192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44256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977640"/>
            <a:ext cx="1965960" cy="8686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42032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42032" y="44256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3977640"/>
            <a:ext cx="1965960" cy="8686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90872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90872" y="44256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977640"/>
            <a:ext cx="1965960" cy="8686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39712" y="40416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39712" y="44256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10972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/ ADASYN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3167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advanced oversampling techniques to further improve fraud recall beyond 31.79%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023360" cy="1097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18888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3167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 or Autoencoder-based anomaly detection for sequential transaction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4023360" cy="1097280"/>
          </a:xfrm>
          <a:prstGeom prst="rect">
            <a:avLst/>
          </a:prstGeom>
          <a:solidFill>
            <a:srgbClr val="F0F8F7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208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25968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Kafka or Flink to score transactions as they arrive in production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194560"/>
            <a:ext cx="4023360" cy="1097280"/>
          </a:xfrm>
          <a:prstGeom prst="rect">
            <a:avLst/>
          </a:prstGeom>
          <a:solidFill>
            <a:srgbClr val="E6F4F3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17720" y="219456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18888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5968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value explanations for per-prediction feature attribution in the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4023360" cy="1097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1208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" y="38770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banks without sharing raw customer data — preserving privacy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474720"/>
            <a:ext cx="4023360" cy="1097280"/>
          </a:xfrm>
          <a:prstGeom prst="rect">
            <a:avLst/>
          </a:prstGeom>
          <a:solidFill>
            <a:srgbClr val="F0F8F7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17720" y="34747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18888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38770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variants simultaneously and track fraud catch rate in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|  Easwari Engineering College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A. Dal Pozzolo et al., "Calibrating Probability with Undersampling for Unbalanced Classification," in IEEE SSCI, 2015.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N. V. Chawla et al., "SMOTE: Synthetic Minority Over-sampling Technique," JAIR, vol. 16, pp. 321–357, 2002.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L. Breiman, "Random Forests," Machine Learning, vol. 45, no. 1, pp. 5–32, 2001.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78024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S. Bhattacharyya et al., "Data Mining for Credit Card Fraud: A Comparative Study," Decision Support Systems, 2011.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9992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K. Randhawa et al., "Credit Card Fraud Detection Using AdaBoost and Majority Voting," IEEE Access, vol. 6, 2018.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Scikit-learn: Machine Learning in Python — https://scikit-learn.org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0416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Streamlit Open-source Framework — https://streamlit.io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78CC-7943-EB05-68F3-EFF022B0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7567"/>
          </a:solidFill>
          <a:ln w="12700">
            <a:solidFill>
              <a:srgbClr val="0A75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2"/>
          <p:cNvSpPr/>
          <p:nvPr/>
        </p:nvSpPr>
        <p:spPr>
          <a:xfrm>
            <a:off x="548640" y="1618343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7" name="Text 4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Anomalyze  —  Credit Card Fraud Detection using Anomaly Detection ML</a:t>
            </a:r>
            <a:endParaRPr lang="en-US" sz="1300" dirty="0">
              <a:solidFill>
                <a:srgbClr val="379990"/>
              </a:solidFill>
            </a:endParaRPr>
          </a:p>
        </p:txBody>
      </p:sp>
      <p:sp>
        <p:nvSpPr>
          <p:cNvPr id="18" name="Text 5"/>
          <p:cNvSpPr/>
          <p:nvPr/>
        </p:nvSpPr>
        <p:spPr>
          <a:xfrm>
            <a:off x="54864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 P K  |  Deepak Ram  |  Easwari Engineering College  |  NNDL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379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1910</Words>
  <Application>Microsoft Office PowerPoint</Application>
  <PresentationFormat>On-screen Show (16:9)</PresentationFormat>
  <Paragraphs>314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Anomalyze - Credit Card Fraud Detection</dc:title>
  <dc:subject>PptxGenJS Presentation</dc:subject>
  <dc:creator>PptxGenJS</dc:creator>
  <cp:lastModifiedBy>Adithya P K</cp:lastModifiedBy>
  <cp:revision>1</cp:revision>
  <dcterms:created xsi:type="dcterms:W3CDTF">2026-04-09T19:09:10Z</dcterms:created>
  <dcterms:modified xsi:type="dcterms:W3CDTF">2026-04-10T04:25:59Z</dcterms:modified>
</cp:coreProperties>
</file>